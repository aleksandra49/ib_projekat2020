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5" r:id="rId5"/>
    <p:sldId id="258" r:id="rId6"/>
    <p:sldId id="267" r:id="rId7"/>
    <p:sldId id="259" r:id="rId8"/>
    <p:sldId id="260" r:id="rId9"/>
    <p:sldId id="262" r:id="rId10"/>
    <p:sldId id="268" r:id="rId11"/>
    <p:sldId id="269" r:id="rId12"/>
    <p:sldId id="270" r:id="rId13"/>
    <p:sldId id="263" r:id="rId14"/>
    <p:sldId id="264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5" d="100"/>
          <a:sy n="115" d="100"/>
        </p:scale>
        <p:origin x="1530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738E4-2BA2-43BC-9E9D-2BD7F393D6CB}" type="datetimeFigureOut">
              <a:rPr lang="sr-Latn-RS" smtClean="0"/>
              <a:t>1.4.2021.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85A4C-0918-49E6-8F94-53237EF78501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9976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6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36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4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0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9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0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92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3289F-BE84-440F-8AE0-440BF4F7D80C}" type="datetimeFigureOut">
              <a:rPr lang="en-US" smtClean="0"/>
              <a:pPr/>
              <a:t>01-Apr-21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21EDA-7FE0-4525-92E3-D60B1DFCBE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13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810000"/>
            <a:ext cx="7772400" cy="1470025"/>
          </a:xfrm>
        </p:spPr>
        <p:txBody>
          <a:bodyPr>
            <a:normAutofit/>
          </a:bodyPr>
          <a:lstStyle/>
          <a:p>
            <a:pPr lvl="0"/>
            <a:r>
              <a:rPr kumimoji="0" lang="sr-Latn-R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Batang" pitchFamily="18" charset="-127"/>
                <a:cs typeface="Arial" pitchFamily="34" charset="0"/>
              </a:rPr>
              <a:t>OPEN DATA</a:t>
            </a:r>
            <a:br>
              <a:rPr kumimoji="0" lang="sr-Latn-R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Batang" pitchFamily="18" charset="-127"/>
                <a:cs typeface="Arial" pitchFamily="34" charset="0"/>
              </a:rPr>
            </a:br>
            <a:r>
              <a:rPr lang="sr-Latn-RS" altLang="ko-KR" b="1" dirty="0" smtClean="0">
                <a:latin typeface="Arial" pitchFamily="34" charset="0"/>
                <a:ea typeface="Batang" pitchFamily="18" charset="-127"/>
                <a:cs typeface="Arial" pitchFamily="34" charset="0"/>
              </a:rPr>
              <a:t>OT</a:t>
            </a:r>
            <a:r>
              <a:rPr lang="sr-Cyrl-RS" altLang="ko-KR" b="1" dirty="0" smtClean="0">
                <a:latin typeface="Arial" pitchFamily="34" charset="0"/>
                <a:ea typeface="Batang" pitchFamily="18" charset="-127"/>
                <a:cs typeface="Arial" pitchFamily="34" charset="0"/>
              </a:rPr>
              <a:t>ВОРЕНИ ПОДАЦИ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762000"/>
            <a:ext cx="4800600" cy="1752600"/>
          </a:xfrm>
        </p:spPr>
        <p:txBody>
          <a:bodyPr>
            <a:normAutofit fontScale="92500"/>
          </a:bodyPr>
          <a:lstStyle/>
          <a:p>
            <a:r>
              <a:rPr lang="sr-Cyrl-CS" b="1" dirty="0" smtClean="0">
                <a:solidFill>
                  <a:schemeClr val="tx1"/>
                </a:solidFill>
                <a:effectLst/>
              </a:rPr>
              <a:t>Универзитет у Новом Саду</a:t>
            </a:r>
            <a:endParaRPr lang="en-US" sz="2400" b="1" dirty="0" smtClean="0">
              <a:solidFill>
                <a:schemeClr val="tx1"/>
              </a:solidFill>
              <a:effectLst/>
            </a:endParaRPr>
          </a:p>
          <a:p>
            <a:r>
              <a:rPr lang="sr-Cyrl-CS" b="1" dirty="0" smtClean="0">
                <a:solidFill>
                  <a:schemeClr val="tx1"/>
                </a:solidFill>
                <a:effectLst/>
              </a:rPr>
              <a:t>Факултет техничких наука</a:t>
            </a:r>
            <a:endParaRPr lang="en-US" sz="2400" b="1" dirty="0" smtClean="0">
              <a:solidFill>
                <a:schemeClr val="tx1"/>
              </a:solidFill>
              <a:effectLst/>
            </a:endParaRPr>
          </a:p>
          <a:p>
            <a:r>
              <a:rPr lang="sr-Cyrl-CS" b="1" dirty="0" smtClean="0">
                <a:solidFill>
                  <a:schemeClr val="tx1"/>
                </a:solidFill>
                <a:effectLst/>
              </a:rPr>
              <a:t>у Новом Саду</a:t>
            </a:r>
            <a:endParaRPr lang="en-US" sz="2400" b="1" dirty="0" smtClean="0">
              <a:solidFill>
                <a:schemeClr val="tx1"/>
              </a:solidFill>
              <a:effectLst/>
              <a:latin typeface="Times New Roman"/>
              <a:ea typeface="Times New Roman"/>
            </a:endParaRPr>
          </a:p>
          <a:p>
            <a:endParaRPr lang="en-US" dirty="0"/>
          </a:p>
        </p:txBody>
      </p:sp>
      <p:pic>
        <p:nvPicPr>
          <p:cNvPr id="1025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14400"/>
            <a:ext cx="1192357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480996" y="5943600"/>
            <a:ext cx="30396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Cyrl-CS" sz="2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д</a:t>
            </a:r>
            <a:r>
              <a:rPr lang="sr-Cyrl-CS" sz="2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р </a:t>
            </a:r>
            <a:r>
              <a:rPr lang="sr-Cyrl-CS" sz="2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Милан Парошки</a:t>
            </a:r>
            <a:endParaRPr lang="en-US" sz="2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129" name="Picture 1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914400"/>
            <a:ext cx="13144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265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66800"/>
            <a:ext cx="89916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sz="3200" b="1" dirty="0"/>
              <a:t>Шта су отворени подаци</a:t>
            </a:r>
            <a:endParaRPr lang="en-US" sz="3200" b="1" dirty="0"/>
          </a:p>
          <a:p>
            <a:r>
              <a:rPr lang="sr-Latn-RS" sz="3200" dirty="0"/>
              <a:t> </a:t>
            </a:r>
            <a:endParaRPr lang="en-US" sz="3200" dirty="0"/>
          </a:p>
          <a:p>
            <a:r>
              <a:rPr lang="sr-Latn-RS" sz="3200" dirty="0"/>
              <a:t>Отворени (државни) подаци односе се на информације које су </a:t>
            </a:r>
            <a:r>
              <a:rPr lang="sr-Latn-RS" sz="3200" dirty="0" smtClean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r-Latn-RS" sz="3200" dirty="0" smtClean="0"/>
              <a:t>прикупили</a:t>
            </a:r>
            <a:r>
              <a:rPr lang="sr-Latn-RS" sz="3200" dirty="0"/>
              <a:t>, </a:t>
            </a:r>
            <a:endParaRPr lang="sr-Latn-R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r-Latn-RS" sz="3200" dirty="0" smtClean="0"/>
              <a:t>произвели </a:t>
            </a:r>
            <a:r>
              <a:rPr lang="sr-Latn-RS" sz="3200" dirty="0"/>
              <a:t>или </a:t>
            </a:r>
            <a:endParaRPr lang="sr-Latn-R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r-Latn-RS" sz="3200" dirty="0" smtClean="0"/>
              <a:t>платили </a:t>
            </a:r>
            <a:r>
              <a:rPr lang="sr-Latn-RS" sz="3200" dirty="0"/>
              <a:t>јавни органи </a:t>
            </a:r>
            <a:endParaRPr lang="sr-Latn-RS" sz="3200" dirty="0" smtClean="0"/>
          </a:p>
          <a:p>
            <a:r>
              <a:rPr lang="sr-Latn-RS" sz="3200" dirty="0" smtClean="0"/>
              <a:t>(</a:t>
            </a:r>
            <a:r>
              <a:rPr lang="sr-Latn-RS" sz="3200" dirty="0"/>
              <a:t>такође се називају и информације у јавном сектору) и ставили су на располагање слободно за поновну употребу у било које сврхе. </a:t>
            </a:r>
            <a:endParaRPr lang="en-US" sz="3200" dirty="0"/>
          </a:p>
          <a:p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54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Отворени подаци су подаци који се могу слободно користити без ограничења, поновно користити и поделити са било киме - под условом именовања аутора и дељења под истим условима</a:t>
            </a:r>
            <a:r>
              <a:rPr lang="ru-RU" i="1" dirty="0" smtClean="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  <a:endParaRPr lang="sr-Cyrl-RS" i="1" dirty="0"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7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rPr>
              <a:t>Појављују се 2009. године када су многе владе (Уједињеног Краљевства, Канаде и Новог Зеланда итд.) најавиле иницијативе за „отварање“ својих јавних информација.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rPr>
              <a:t>Отворени подаци су недовољно искоришћен ресурс.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rPr>
              <a:t>Отворени државни подаци су се показали корисним у много области, попут: транспарентност и демократија; иновација; бољи или нови производи и услуге...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33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534400" cy="5745163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Информације о јавном сектору су информације које поседује јавни </a:t>
            </a:r>
            <a:r>
              <a:rPr lang="sr-Latn-RS" dirty="0" smtClean="0"/>
              <a:t>сектор.</a:t>
            </a:r>
          </a:p>
          <a:p>
            <a:r>
              <a:rPr lang="sr-Latn-RS" dirty="0" smtClean="0"/>
              <a:t>Директива </a:t>
            </a:r>
            <a:r>
              <a:rPr lang="sr-Latn-RS" dirty="0"/>
              <a:t>о поновној употреби информација из јавног сектора пружа заједнички правни оквир за европско тржиште података који се држе у влади. </a:t>
            </a:r>
            <a:endParaRPr lang="sr-Latn-RS" dirty="0" smtClean="0"/>
          </a:p>
          <a:p>
            <a:r>
              <a:rPr lang="sr-Latn-RS" dirty="0" smtClean="0"/>
              <a:t>Гради </a:t>
            </a:r>
            <a:r>
              <a:rPr lang="sr-Latn-RS" dirty="0"/>
              <a:t>се око кључних стубова унутрашњег тржишта: слободног протока података, транспарентности и поштене конкуренције. </a:t>
            </a:r>
            <a:endParaRPr lang="sr-Latn-RS" dirty="0" smtClean="0"/>
          </a:p>
          <a:p>
            <a:r>
              <a:rPr lang="sr-Latn-RS" dirty="0" smtClean="0"/>
              <a:t>Важно </a:t>
            </a:r>
            <a:r>
              <a:rPr lang="sr-Latn-RS" dirty="0"/>
              <a:t>је напоменути да нису све информације у јавном сектору отворени подаци.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04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ПОЈАМ</a:t>
            </a:r>
            <a:r>
              <a:rPr lang="en-U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 </a:t>
            </a:r>
            <a:r>
              <a:rPr lang="sr-Cyrl-R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„ОТВОРЕНОСТИ“</a:t>
            </a:r>
            <a:r>
              <a:rPr lang="en-U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/>
            </a:r>
            <a:br>
              <a:rPr lang="en-U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Значење отворених података се поклапа са појмом „отворености“, што се може сажети као: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b="1" dirty="0">
                <a:latin typeface="Source Sans Pro" charset="0"/>
                <a:ea typeface="Source Sans Pro" charset="0"/>
                <a:cs typeface="Source Sans Pro" charset="0"/>
              </a:rPr>
              <a:t>Доступност и приступачност</a:t>
            </a: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: Подаци морају бити доступни у потпуности и у прегледном облику с могућношћу измене садржаја.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b="1" dirty="0">
                <a:latin typeface="Source Sans Pro" charset="0"/>
                <a:ea typeface="Source Sans Pro" charset="0"/>
                <a:cs typeface="Source Sans Pro" charset="0"/>
              </a:rPr>
              <a:t>Поновна употреба и редистрибуција</a:t>
            </a: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: Подаци морају бити пружени под условима који дозвољавају поновну употребу и редистрибуцију.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b="1" dirty="0">
                <a:latin typeface="Source Sans Pro" charset="0"/>
                <a:ea typeface="Source Sans Pro" charset="0"/>
                <a:cs typeface="Source Sans Pro" charset="0"/>
              </a:rPr>
              <a:t>Глобална укљученост</a:t>
            </a: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: Сви имају право на коришћење и редистрибуцију, без дискриминације.</a:t>
            </a:r>
            <a:endParaRPr lang="sr-Cyrl-RS" dirty="0">
              <a:latin typeface="Source Sans Pro" charset="0"/>
              <a:ea typeface="Source Sans Pro" charset="0"/>
              <a:cs typeface="Source Sans Pro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5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610600" cy="5821363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sr-Latn-RS" b="1" dirty="0"/>
              <a:t>Предности отворених података</a:t>
            </a:r>
            <a:endParaRPr lang="en-US" b="1" dirty="0"/>
          </a:p>
          <a:p>
            <a:pPr marL="0" indent="0">
              <a:buNone/>
            </a:pPr>
            <a:r>
              <a:rPr lang="sr-Latn-RS" dirty="0"/>
              <a:t> </a:t>
            </a:r>
            <a:endParaRPr lang="en-US" dirty="0"/>
          </a:p>
          <a:p>
            <a:r>
              <a:rPr lang="sr-Latn-RS" dirty="0"/>
              <a:t>Предности отворених података су разнолике и крећу се од побољшане ефикасности јавне управе, економског раста у приватном сектору до ширег социјалног старања.</a:t>
            </a:r>
            <a:endParaRPr lang="en-US" dirty="0"/>
          </a:p>
          <a:p>
            <a:endParaRPr lang="en-US" dirty="0"/>
          </a:p>
          <a:p>
            <a:r>
              <a:rPr lang="sr-Latn-RS" dirty="0"/>
              <a:t>Перформансе се могу побољшати отвореним подацима и допринети побољшању ефикасности јавних услуга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6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Економија може имати користи од лакшег приступа информацијама, садржају и знању заузврат доприносећи развоју иновативних услуга и стварању нових пословних модела.</a:t>
            </a:r>
            <a:endParaRPr lang="en-US" dirty="0"/>
          </a:p>
          <a:p>
            <a:endParaRPr lang="en-US" dirty="0"/>
          </a:p>
          <a:p>
            <a:r>
              <a:rPr lang="sr-Latn-RS" dirty="0"/>
              <a:t>Социјална </a:t>
            </a:r>
            <a:r>
              <a:rPr lang="sr-Cyrl-RS" dirty="0" smtClean="0"/>
              <a:t>питања</a:t>
            </a:r>
            <a:r>
              <a:rPr lang="sr-Latn-RS" dirty="0" smtClean="0"/>
              <a:t> </a:t>
            </a:r>
            <a:r>
              <a:rPr lang="sr-Latn-RS" dirty="0"/>
              <a:t>се </a:t>
            </a:r>
            <a:r>
              <a:rPr lang="sr-Latn-RS" dirty="0" smtClean="0"/>
              <a:t>мо</a:t>
            </a:r>
            <a:r>
              <a:rPr lang="sr-Cyrl-RS" dirty="0" smtClean="0"/>
              <a:t>гу</a:t>
            </a:r>
            <a:r>
              <a:rPr lang="sr-Latn-RS" dirty="0" smtClean="0"/>
              <a:t> </a:t>
            </a:r>
            <a:r>
              <a:rPr lang="sr-Latn-RS" dirty="0"/>
              <a:t>побољшати јер друштво има користи од транспарентнијих и доступнијих информација. </a:t>
            </a:r>
            <a:endParaRPr lang="sr-Cyrl-RS" dirty="0" smtClean="0"/>
          </a:p>
          <a:p>
            <a:endParaRPr lang="sr-Cyrl-RS" dirty="0" smtClean="0"/>
          </a:p>
          <a:p>
            <a:r>
              <a:rPr lang="sr-Latn-RS" dirty="0" smtClean="0"/>
              <a:t>Отворени </a:t>
            </a:r>
            <a:r>
              <a:rPr lang="sr-Latn-RS" dirty="0"/>
              <a:t>подаци побољшавају сарадњу, партиципацију и друштвене иновације.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38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991600" cy="6705600"/>
          </a:xfrm>
        </p:spPr>
        <p:txBody>
          <a:bodyPr>
            <a:normAutofit fontScale="85000" lnSpcReduction="10000"/>
          </a:bodyPr>
          <a:lstStyle/>
          <a:p>
            <a:r>
              <a:rPr lang="sr-Latn-RS" dirty="0"/>
              <a:t>Резултати Отворених података повећавају ефикасност јер се користе подаци у реалном времену који омогућавају лак приступ информацијама који побољшавају појединачно доношење одлука. </a:t>
            </a:r>
            <a:endParaRPr lang="sr-Cyrl-RS" dirty="0" smtClean="0"/>
          </a:p>
          <a:p>
            <a:r>
              <a:rPr lang="sr-Latn-RS" dirty="0" smtClean="0"/>
              <a:t>Три </a:t>
            </a:r>
            <a:r>
              <a:rPr lang="sr-Latn-RS" dirty="0"/>
              <a:t>студије случаја </a:t>
            </a:r>
            <a:r>
              <a:rPr lang="sr-Latn-RS" dirty="0" smtClean="0"/>
              <a:t>(</a:t>
            </a:r>
            <a:r>
              <a:rPr lang="sr-Cyrl-RS" dirty="0" smtClean="0"/>
              <a:t>могу се наћи на интернету) </a:t>
            </a:r>
            <a:r>
              <a:rPr lang="sr-Latn-RS" dirty="0" smtClean="0"/>
              <a:t>детаљније процењују</a:t>
            </a:r>
            <a:r>
              <a:rPr lang="sr-Latn-RS" dirty="0"/>
              <a:t>: </a:t>
            </a:r>
            <a:endParaRPr lang="sr-Cyrl-RS" dirty="0" smtClean="0"/>
          </a:p>
          <a:p>
            <a:pPr lvl="1"/>
            <a:r>
              <a:rPr lang="sr-Latn-RS" dirty="0" smtClean="0"/>
              <a:t>како </a:t>
            </a:r>
            <a:r>
              <a:rPr lang="sr-Latn-RS" dirty="0"/>
              <a:t>Отворени подаци могу да спасу животе, </a:t>
            </a:r>
            <a:endParaRPr lang="sr-Cyrl-RS" dirty="0" smtClean="0"/>
          </a:p>
          <a:p>
            <a:pPr lvl="1"/>
            <a:r>
              <a:rPr lang="sr-Latn-RS" dirty="0" smtClean="0"/>
              <a:t>како </a:t>
            </a:r>
            <a:r>
              <a:rPr lang="sr-Latn-RS" dirty="0"/>
              <a:t>се могу користити да се уштеди време и </a:t>
            </a:r>
            <a:endParaRPr lang="sr-Cyrl-RS" dirty="0" smtClean="0"/>
          </a:p>
          <a:p>
            <a:pPr lvl="1"/>
            <a:r>
              <a:rPr lang="sr-Latn-RS" dirty="0" smtClean="0"/>
              <a:t>како </a:t>
            </a:r>
            <a:r>
              <a:rPr lang="sr-Latn-RS" dirty="0"/>
              <a:t>Отворени подаци помажу у остваривању користи за животну средину. </a:t>
            </a:r>
            <a:endParaRPr lang="sr-Cyrl-RS" dirty="0" smtClean="0"/>
          </a:p>
          <a:p>
            <a:pPr marL="457200" lvl="1" indent="0">
              <a:buNone/>
            </a:pPr>
            <a:r>
              <a:rPr lang="sr-Latn-RS" sz="3500" dirty="0" smtClean="0"/>
              <a:t>На пример, Отворени подаци могу спасити 7000 живота годишње пружањем реанимације раније. </a:t>
            </a:r>
            <a:endParaRPr lang="sr-Cyrl-RS" sz="3500" dirty="0" smtClean="0"/>
          </a:p>
          <a:p>
            <a:pPr marL="457200" lvl="1" indent="0">
              <a:buNone/>
            </a:pPr>
            <a:r>
              <a:rPr lang="sr-Latn-RS" sz="3500" dirty="0" smtClean="0"/>
              <a:t>Штавише, применом отворених података у саобраћају можете уштедети 629 милиона сати непотребног времена чекања на путевима у ЕУ.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2980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ПРИМЕРИ</a:t>
            </a:r>
            <a:r>
              <a:rPr lang="en-U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 </a:t>
            </a:r>
            <a:r>
              <a:rPr lang="sr-Cyrl-R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КОРИШЋЕЊА</a:t>
            </a:r>
            <a:r>
              <a:rPr lang="en-U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/>
            </a:r>
            <a:br>
              <a:rPr lang="en-U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Данска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sr-Cyrl-RS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–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портал за праћење активности парламента и процеса доношења закона;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Финска и УК 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- увид у начин на који влада користи државни новац;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Канада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sr-Cyrl-RS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–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уштеда 3,2 милијарде долара на преварама пореза добротворних сврха;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sr-Cyrl-RS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Немачка и УК </a:t>
            </a:r>
            <a:r>
              <a:rPr lang="sr-Cyrl-RS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– проналажење смештаја узимајући у обзир цену, близину посла и колико је уређено подручје;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Холандија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</a:t>
            </a:r>
            <a:r>
              <a:rPr lang="sr-Cyrl-RS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–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смањење радног оптерећења и трошкова Министарства образовања, захваљујућу објави података на интернету.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06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ПАРТНЕРСТВО ЗА ОТВОРЕНУ УПРАВУ</a:t>
            </a:r>
            <a:r>
              <a:rPr lang="en-U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/>
            </a:r>
            <a:br>
              <a:rPr lang="en-U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Основано 20. септембра 2011. године доношењем Декларације о отвореној влади од стране осам влада држава (Бразила, Филипина, Индонезије, Мексика, Норвешке, Јужноафричке Републике, САД и УК).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Циљ оснивања ПОУ је била међународна платформа која ће на националном нивоу помоћи државама да постану више отворене, одговорне, транспарентне, да се боре с корупцијом и користе нове техонологије да побољшају управу.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У оквиру ПОУ постоји Радна група за отворене податке која помаже чланицама да развију акционе планове везане за отворене податке.</a:t>
            </a:r>
            <a:endParaRPr lang="sr-Cyrl-RS" dirty="0">
              <a:latin typeface="Source Sans Pro" charset="0"/>
              <a:ea typeface="Source Sans Pro" charset="0"/>
              <a:cs typeface="Source Sans Pro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57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Cyrl-R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СРБИЈА –</a:t>
            </a:r>
            <a:r>
              <a:rPr lang="en-US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 </a:t>
            </a:r>
            <a:r>
              <a:rPr lang="en-US" b="1" spc="300" dirty="0" smtClean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DATA.GOV.RS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Влада Србије се стратешки определила за отварање података у </a:t>
            </a:r>
            <a:r>
              <a:rPr lang="ru-RU" i="1" dirty="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Акционом плану за спровођење иницијативе Партнерство за отворену управу у Републици Србији </a:t>
            </a:r>
            <a:r>
              <a:rPr lang="ru-RU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и </a:t>
            </a:r>
            <a:r>
              <a:rPr lang="ru-RU" i="1" dirty="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Стратегији развоја електронске управе у Републици Србији</a:t>
            </a:r>
            <a:r>
              <a:rPr lang="ru-RU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Портал одржава Канцеларија за информационе технологије и електронску управу;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Подршку процесу отварања података у Србији пружа Програм Уједињених нација за развој (UNDP), Светска Банка, Шведска агенција за међународни развој и сарадњу (SIDA) и Влада Велике Британије у склопу Фонда за добру управу (GGF).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72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0297"/>
            <a:ext cx="8458200" cy="7469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r-Latn-RS" sz="3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Подаци нису сами себи сврха. Подаци се могу користити на различите начине и у различите сврхе. Подаци такође могу бити доступни са различитим лиценцама, форматима и квалитетом</a:t>
            </a:r>
            <a:r>
              <a:rPr lang="sr-Latn-RS" sz="3200" dirty="0" smtClean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sr-Cyrl-RS" sz="3200" dirty="0" smtClean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r-Latn-RS" sz="3200" dirty="0"/>
              <a:t>Предузећа такође могу да користе Отворене податке да побољшају своје профиле купаца и могу боље да одговарају потребама својих купаца. Било да се ради о приватној или комерцијалној употреби, Опен Дата нуди пуно могућности</a:t>
            </a:r>
            <a:r>
              <a:rPr lang="sr-Latn-RS" sz="3200" dirty="0" smtClean="0"/>
              <a:t>.</a:t>
            </a:r>
            <a:endParaRPr lang="sr-Cyrl-RS" sz="3200" dirty="0" smtClean="0"/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r-Latn-RS" sz="3200" dirty="0"/>
              <a:t>Најчешћи формат датотеке за табеларне податке је </a:t>
            </a:r>
            <a:r>
              <a:rPr lang="sr-Latn-RS" sz="3200" dirty="0" smtClean="0"/>
              <a:t>„.csv“</a:t>
            </a:r>
            <a:endParaRPr lang="en-US" sz="3200" dirty="0"/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92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9916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sr-Latn-RS" dirty="0"/>
              <a:t>Ево кратког списка који је развио Институт за отворене податке:</a:t>
            </a:r>
            <a:endParaRPr lang="en-US" dirty="0"/>
          </a:p>
          <a:p>
            <a:pPr marL="0" indent="0">
              <a:buNone/>
            </a:pPr>
            <a:endParaRPr lang="sr-Cyrl-RS" b="1" dirty="0" smtClean="0"/>
          </a:p>
          <a:p>
            <a:pPr marL="0" indent="0">
              <a:buNone/>
            </a:pPr>
            <a:endParaRPr lang="sr-Cyrl-RS" b="1" dirty="0"/>
          </a:p>
          <a:p>
            <a:pPr marL="0" indent="0">
              <a:buNone/>
            </a:pPr>
            <a:r>
              <a:rPr lang="sr-Latn-RS" b="1" dirty="0" smtClean="0"/>
              <a:t>Образац</a:t>
            </a:r>
            <a:r>
              <a:rPr lang="sr-Cyrl-RS" b="1" dirty="0" smtClean="0"/>
              <a:t> за отворене податке:</a:t>
            </a:r>
            <a:endParaRPr lang="en-US" b="1" dirty="0"/>
          </a:p>
          <a:p>
            <a:pPr marL="0" indent="0">
              <a:buNone/>
            </a:pPr>
            <a:r>
              <a:rPr lang="sr-Latn-RS" dirty="0"/>
              <a:t>• како су подаци обрађени?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• да ли </a:t>
            </a:r>
            <a:r>
              <a:rPr lang="sr-Cyrl-RS" dirty="0" smtClean="0"/>
              <a:t>су</a:t>
            </a:r>
            <a:r>
              <a:rPr lang="sr-Latn-RS" dirty="0" smtClean="0"/>
              <a:t> </a:t>
            </a:r>
            <a:r>
              <a:rPr lang="sr-Latn-RS" dirty="0"/>
              <a:t>у сировом или сажетом облику?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• како ће његов облик утицати на </a:t>
            </a:r>
            <a:r>
              <a:rPr lang="sr-Latn-RS" dirty="0" smtClean="0"/>
              <a:t> </a:t>
            </a:r>
            <a:r>
              <a:rPr lang="sr-Latn-RS" dirty="0"/>
              <a:t>анализу / производ / апликацију?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• које </a:t>
            </a:r>
            <a:r>
              <a:rPr lang="sr-Latn-RS" dirty="0" smtClean="0"/>
              <a:t> </a:t>
            </a:r>
            <a:r>
              <a:rPr lang="sr-Latn-RS" dirty="0"/>
              <a:t>синтаксичке (језичке) и семантичке (значење) трансформације </a:t>
            </a:r>
            <a:r>
              <a:rPr lang="sr-Cyrl-RS" dirty="0" smtClean="0"/>
              <a:t> </a:t>
            </a:r>
          </a:p>
          <a:p>
            <a:pPr marL="0" indent="0">
              <a:buNone/>
            </a:pPr>
            <a:r>
              <a:rPr lang="sr-Cyrl-RS" dirty="0"/>
              <a:t> </a:t>
            </a:r>
            <a:r>
              <a:rPr lang="sr-Cyrl-RS" dirty="0" smtClean="0"/>
              <a:t>  </a:t>
            </a:r>
            <a:r>
              <a:rPr lang="sr-Latn-RS" dirty="0" smtClean="0"/>
              <a:t>требати </a:t>
            </a:r>
            <a:r>
              <a:rPr lang="sr-Latn-RS" dirty="0"/>
              <a:t>извршити?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• да ли је ово компатибилно са осталим скуповима података које имате?</a:t>
            </a:r>
            <a:endParaRPr lang="en-US" dirty="0"/>
          </a:p>
          <a:p>
            <a:pPr marL="0" indent="0">
              <a:buNone/>
            </a:pPr>
            <a:endParaRPr lang="sr-Cyrl-RS" dirty="0" smtClean="0"/>
          </a:p>
          <a:p>
            <a:pPr marL="0" indent="0">
              <a:buNone/>
            </a:pPr>
            <a:endParaRPr lang="sr-Cyrl-RS" b="1" smtClean="0"/>
          </a:p>
          <a:p>
            <a:pPr marL="0" indent="0">
              <a:buNone/>
            </a:pPr>
            <a:r>
              <a:rPr lang="sr-Latn-RS" b="1" smtClean="0"/>
              <a:t>Квалитет</a:t>
            </a:r>
            <a:endParaRPr lang="en-US" b="1" dirty="0"/>
          </a:p>
          <a:p>
            <a:pPr marL="0" indent="0">
              <a:buNone/>
            </a:pPr>
            <a:r>
              <a:rPr lang="sr-Latn-RS" dirty="0"/>
              <a:t>• </a:t>
            </a:r>
            <a:r>
              <a:rPr lang="sr-Latn-RS" dirty="0" smtClean="0"/>
              <a:t>колико </a:t>
            </a:r>
            <a:r>
              <a:rPr lang="sr-Latn-RS" dirty="0"/>
              <a:t>се редовно ажурира?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• да ли </a:t>
            </a:r>
            <a:r>
              <a:rPr lang="sr-Cyrl-RS" dirty="0" smtClean="0"/>
              <a:t>се могу </a:t>
            </a:r>
            <a:r>
              <a:rPr lang="sr-Latn-RS" dirty="0" smtClean="0"/>
              <a:t>разумет</a:t>
            </a:r>
            <a:r>
              <a:rPr lang="sr-Cyrl-RS" dirty="0" smtClean="0"/>
              <a:t>и</a:t>
            </a:r>
            <a:r>
              <a:rPr lang="sr-Latn-RS" dirty="0" smtClean="0"/>
              <a:t> </a:t>
            </a:r>
            <a:r>
              <a:rPr lang="sr-Latn-RS" dirty="0"/>
              <a:t>сва поља и њихов контекст?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• колико дуго ће се објављивати?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• шта је обавеза </a:t>
            </a:r>
            <a:r>
              <a:rPr lang="sr-Latn-RS" dirty="0" smtClean="0"/>
              <a:t>издавача</a:t>
            </a:r>
            <a:r>
              <a:rPr lang="sr-Cyrl-RS" dirty="0" smtClean="0"/>
              <a:t> сета отворених података</a:t>
            </a:r>
            <a:r>
              <a:rPr lang="sr-Latn-RS" dirty="0" smtClean="0"/>
              <a:t>?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• шта </a:t>
            </a:r>
            <a:r>
              <a:rPr lang="sr-Cyrl-RS" dirty="0" smtClean="0"/>
              <a:t>се </a:t>
            </a:r>
            <a:r>
              <a:rPr lang="sr-Latn-RS" dirty="0" smtClean="0"/>
              <a:t>зна </a:t>
            </a:r>
            <a:r>
              <a:rPr lang="sr-Latn-RS" dirty="0"/>
              <a:t>о тачности података?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• како се рукује подацима који недостају?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ТАКМИЧЕЊА НА ТЕМУ </a:t>
            </a:r>
            <a:r>
              <a:rPr lang="en-US" b="1" spc="300" dirty="0" smtClean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                           </a:t>
            </a:r>
            <a:r>
              <a:rPr lang="ru-RU" b="1" spc="300" dirty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ОТВОРЕНИХ ПОДАТАКА</a:t>
            </a:r>
            <a:r>
              <a:rPr lang="en-US" b="1" spc="300" dirty="0">
                <a:solidFill>
                  <a:schemeClr val="accent1"/>
                </a:solidFill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/>
            </a:r>
            <a:br>
              <a:rPr lang="en-US" b="1" spc="300" dirty="0">
                <a:solidFill>
                  <a:schemeClr val="accent1"/>
                </a:solidFill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Такмичења на тему отворених података одржавају се широм света на међународном и националном нивоу и најчешће су нека врста </a:t>
            </a:r>
            <a:r>
              <a:rPr lang="ru-RU" i="1" dirty="0"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t>hackathon</a:t>
            </a: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-а.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sr-Cyrl-RS" dirty="0">
                <a:latin typeface="Source Sans Pro" charset="0"/>
                <a:ea typeface="Source Sans Pro" charset="0"/>
                <a:cs typeface="Source Sans Pro" charset="0"/>
              </a:rPr>
              <a:t>Аустралија и Нови Зеланд – годишњи </a:t>
            </a:r>
            <a:r>
              <a:rPr lang="en-US" dirty="0" err="1">
                <a:latin typeface="Source Sans Pro" charset="0"/>
                <a:ea typeface="Source Sans Pro" charset="0"/>
                <a:cs typeface="Source Sans Pro" charset="0"/>
              </a:rPr>
              <a:t>GovHack</a:t>
            </a:r>
            <a:endParaRPr lang="en-US" dirty="0">
              <a:latin typeface="Source Sans Pro" charset="0"/>
              <a:ea typeface="Source Sans Pro" charset="0"/>
              <a:cs typeface="Source Sans Pro" charset="0"/>
            </a:endParaRP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sr-Cyrl-RS" dirty="0">
                <a:latin typeface="Source Sans Pro" charset="0"/>
                <a:ea typeface="Source Sans Pro" charset="0"/>
                <a:cs typeface="Source Sans Pro" charset="0"/>
              </a:rPr>
              <a:t>Француска – #</a:t>
            </a:r>
            <a:r>
              <a:rPr lang="en-US" dirty="0" err="1">
                <a:latin typeface="Source Sans Pro" charset="0"/>
                <a:ea typeface="Source Sans Pro" charset="0"/>
                <a:cs typeface="Source Sans Pro" charset="0"/>
              </a:rPr>
              <a:t>DataFin</a:t>
            </a: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 hackathon 2018. </a:t>
            </a:r>
            <a:r>
              <a:rPr lang="sr-Cyrl-RS" dirty="0">
                <a:latin typeface="Source Sans Pro" charset="0"/>
                <a:ea typeface="Source Sans Pro" charset="0"/>
                <a:cs typeface="Source Sans Pro" charset="0"/>
              </a:rPr>
              <a:t>године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sr-Cyrl-RS" dirty="0">
                <a:latin typeface="Source Sans Pro" charset="0"/>
                <a:ea typeface="Source Sans Pro" charset="0"/>
                <a:cs typeface="Source Sans Pro" charset="0"/>
              </a:rPr>
              <a:t>Индија – #</a:t>
            </a:r>
            <a:r>
              <a:rPr lang="en-US" dirty="0" err="1">
                <a:latin typeface="Source Sans Pro" charset="0"/>
                <a:ea typeface="Source Sans Pro" charset="0"/>
                <a:cs typeface="Source Sans Pro" charset="0"/>
              </a:rPr>
              <a:t>OpenGovDataHack</a:t>
            </a: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 2017. </a:t>
            </a:r>
            <a:r>
              <a:rPr lang="sr-Cyrl-RS" dirty="0">
                <a:latin typeface="Source Sans Pro" charset="0"/>
                <a:ea typeface="Source Sans Pro" charset="0"/>
                <a:cs typeface="Source Sans Pro" charset="0"/>
              </a:rPr>
              <a:t>године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sr-Cyrl-RS" dirty="0">
                <a:latin typeface="Source Sans Pro" charset="0"/>
                <a:ea typeface="Source Sans Pro" charset="0"/>
                <a:cs typeface="Source Sans Pro" charset="0"/>
              </a:rPr>
              <a:t>Оман – </a:t>
            </a: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The Big Open Data Idea 2013. </a:t>
            </a:r>
            <a:r>
              <a:rPr lang="sr-Cyrl-RS" dirty="0">
                <a:latin typeface="Source Sans Pro" charset="0"/>
                <a:ea typeface="Source Sans Pro" charset="0"/>
                <a:cs typeface="Source Sans Pro" charset="0"/>
              </a:rPr>
              <a:t>године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sr-Cyrl-RS" dirty="0">
                <a:latin typeface="Source Sans Pro" charset="0"/>
                <a:ea typeface="Source Sans Pro" charset="0"/>
                <a:cs typeface="Source Sans Pro" charset="0"/>
              </a:rPr>
              <a:t>Словенија – „Културна пустоловина на длану“ </a:t>
            </a: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hackathon 2018. </a:t>
            </a:r>
            <a:r>
              <a:rPr lang="sr-Cyrl-RS" dirty="0">
                <a:latin typeface="Source Sans Pro" charset="0"/>
                <a:ea typeface="Source Sans Pro" charset="0"/>
                <a:cs typeface="Source Sans Pro" charset="0"/>
              </a:rPr>
              <a:t>године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89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Cyrl-RS" b="1" spc="300" dirty="0" smtClean="0">
                <a:latin typeface="Ropa Sans Pro" panose="020B0504020101010102" pitchFamily="34" charset="0"/>
                <a:ea typeface="Dosis" charset="0"/>
                <a:cs typeface="Ropa Sans Pro" panose="020B0504020101010102" pitchFamily="34" charset="0"/>
              </a:rPr>
              <a:t>ЗАКЉУЧАК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Прави потенцијал отворених података ће се тек увидети, посебно кад се јавни владини подаци трансформушу у отворене податке.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Портали отворених података су важни, али су само почетна тачка у иницијативи отворених података.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Развијене земље су спремније да отворе податке и ажурније су континуираном раду на њима.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У региону постоју жеља и намера да се подаци објаве, али без много показаног труда, са изузетком Словеније која је врло посвећена отварању података.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У Србији је потребно премостити дигитални јаз да би се промене виделе, иако Србија показује велики потенцијал - 41. место на Глобалном индексу отворених података.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Подаци морају бити доступни свима да би били стварно </a:t>
            </a:r>
            <a:r>
              <a:rPr lang="ru-RU" dirty="0" smtClean="0">
                <a:latin typeface="Source Sans Pro" charset="0"/>
                <a:ea typeface="Source Sans Pro" charset="0"/>
                <a:cs typeface="Source Sans Pro" charset="0"/>
              </a:rPr>
              <a:t>отв</a:t>
            </a:r>
            <a:r>
              <a:rPr lang="en-US" dirty="0" smtClean="0">
                <a:latin typeface="Source Sans Pro" charset="0"/>
                <a:ea typeface="Source Sans Pro" charset="0"/>
                <a:cs typeface="Source Sans Pro" charset="0"/>
              </a:rPr>
              <a:t>o</a:t>
            </a:r>
            <a:r>
              <a:rPr lang="ru-RU" dirty="0" smtClean="0">
                <a:latin typeface="Source Sans Pro" charset="0"/>
                <a:ea typeface="Source Sans Pro" charset="0"/>
                <a:cs typeface="Source Sans Pro" charset="0"/>
              </a:rPr>
              <a:t>рени</a:t>
            </a: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, без ограничења.</a:t>
            </a:r>
            <a:endParaRPr lang="sr-Cyrl-RS" dirty="0">
              <a:latin typeface="Source Sans Pro" charset="0"/>
              <a:ea typeface="Source Sans Pro" charset="0"/>
              <a:cs typeface="Source Sans Pro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19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0CBD0BFFFC4C45AC3F11163104E16D" ma:contentTypeVersion="2" ma:contentTypeDescription="Create a new document." ma:contentTypeScope="" ma:versionID="5b081c6c7e9981a3bf8a3d8322c4fd1a">
  <xsd:schema xmlns:xsd="http://www.w3.org/2001/XMLSchema" xmlns:xs="http://www.w3.org/2001/XMLSchema" xmlns:p="http://schemas.microsoft.com/office/2006/metadata/properties" xmlns:ns2="b60a26d6-954b-4ea8-8ffb-45e6dc51f000" targetNamespace="http://schemas.microsoft.com/office/2006/metadata/properties" ma:root="true" ma:fieldsID="0368efc7be6561dd1d90dd700e804b2c" ns2:_="">
    <xsd:import namespace="b60a26d6-954b-4ea8-8ffb-45e6dc51f0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0a26d6-954b-4ea8-8ffb-45e6dc51f0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B26ED0-1624-4CB8-AA59-020DF177EEED}"/>
</file>

<file path=customXml/itemProps2.xml><?xml version="1.0" encoding="utf-8"?>
<ds:datastoreItem xmlns:ds="http://schemas.openxmlformats.org/officeDocument/2006/customXml" ds:itemID="{95D0D19C-ABE3-4BEC-869C-AF2523CC602A}"/>
</file>

<file path=customXml/itemProps3.xml><?xml version="1.0" encoding="utf-8"?>
<ds:datastoreItem xmlns:ds="http://schemas.openxmlformats.org/officeDocument/2006/customXml" ds:itemID="{AC96FECF-D253-4D65-A111-FAE33B51DEC2}"/>
</file>

<file path=docProps/app.xml><?xml version="1.0" encoding="utf-8"?>
<Properties xmlns="http://schemas.openxmlformats.org/officeDocument/2006/extended-properties" xmlns:vt="http://schemas.openxmlformats.org/officeDocument/2006/docPropsVTypes">
  <Template>TM01859862[[fn=Urban Pop]]</Template>
  <TotalTime>160377</TotalTime>
  <Words>1047</Words>
  <Application>Microsoft Office PowerPoint</Application>
  <PresentationFormat>On-screen Show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Batang</vt:lpstr>
      <vt:lpstr>Calibri</vt:lpstr>
      <vt:lpstr>Dosis</vt:lpstr>
      <vt:lpstr>Ropa Sans Pro</vt:lpstr>
      <vt:lpstr>Source Sans Pro</vt:lpstr>
      <vt:lpstr>Times New Roman</vt:lpstr>
      <vt:lpstr>Verdana</vt:lpstr>
      <vt:lpstr>Office Theme</vt:lpstr>
      <vt:lpstr>OPEN DATA OTВОРЕНИ ПОДАЦИ</vt:lpstr>
      <vt:lpstr>PowerPoint Presentation</vt:lpstr>
      <vt:lpstr>PowerPoint Presentation</vt:lpstr>
      <vt:lpstr>PowerPoint Presentation</vt:lpstr>
      <vt:lpstr>PowerPoint Presentation</vt:lpstr>
      <vt:lpstr>ПОЈАМ „ОТВОРЕНОСТИ“ </vt:lpstr>
      <vt:lpstr>PowerPoint Presentation</vt:lpstr>
      <vt:lpstr>PowerPoint Presentation</vt:lpstr>
      <vt:lpstr>PowerPoint Presentation</vt:lpstr>
      <vt:lpstr>ПРИМЕРИ КОРИШЋЕЊА </vt:lpstr>
      <vt:lpstr>ПАРТНЕРСТВО ЗА ОТВОРЕНУ УПРАВУ </vt:lpstr>
      <vt:lpstr>СРБИЈА – DATA.GOV.RS</vt:lpstr>
      <vt:lpstr>PowerPoint Presentation</vt:lpstr>
      <vt:lpstr>PowerPoint Presentation</vt:lpstr>
      <vt:lpstr>ТАКМИЧЕЊА НА ТЕМУ                            ОТВОРЕНИХ ПОДАТАКА </vt:lpstr>
      <vt:lpstr>ЗАКЉУЧАК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МОДЕЛИРАЊЕ И ИМПЛЕМЕНТАЦИЈА УБРЗАНОГ РАЗВОЈА ЕЛЕКТРОНСКЕ УПРАВЕ</dc:title>
  <dc:creator>Milan Paroski</dc:creator>
  <cp:lastModifiedBy>Milan Paroski</cp:lastModifiedBy>
  <cp:revision>241</cp:revision>
  <dcterms:created xsi:type="dcterms:W3CDTF">2012-11-28T19:10:09Z</dcterms:created>
  <dcterms:modified xsi:type="dcterms:W3CDTF">2021-04-02T04:49:22Z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0x010100C10CBD0BFFFC4C45AC3F11163104E16D</vt:lpwstr>
  </property>
</Properties>
</file>